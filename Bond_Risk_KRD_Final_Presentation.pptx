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982E6-5F7B-440A-9062-11B96DEB6E7F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BD49-7212-41AE-A509-ECC31AC60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3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6BD49-7212-41AE-A509-ECC31AC6083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51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3A79A2C-DC81-40C8-AAB8-9F2A38A6E6A0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5644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3F5D0-AF7A-4A8D-A3D2-D61DCBCF8019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1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B112EFCA-D72A-4FBF-A0B4-B08171066AB4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3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476B525-A3F5-460C-BA3C-58E72033C537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232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927B9-CF99-4608-B8D1-5BEDA6E088E3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20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548680AA-191D-4843-9AFD-B2C434BDDAF9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032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7BF9A30-9CA8-4CF9-885D-55405DC05EF7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80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4ADA-E539-4782-9381-AA96C87D4A39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731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C717C271-39BC-420F-8097-B546DE62456D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75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33D083BF-BBDC-4031-9CD6-6E34CCBAD8B9}" type="datetime1">
              <a:rPr lang="en-IN" smtClean="0"/>
              <a:t>25-08-2026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55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92F7-6B4E-430B-B71B-C535888CFB56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420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B65E-DFF0-463B-B868-CF68C96FBFBC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6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1D464EF2-C341-473D-B9F1-9A6F4228688B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666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50FE651A-0D03-4F6D-B12C-304BB26F5398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0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0A45C10D-8CCC-4B31-A957-9C06E7B960E0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8959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FC7E3E95-D134-4467-8408-74AC67C2320A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5506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25129-9CE7-42EC-B836-85C401E0830A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04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217A-9B45-4C67-99A7-FF29A105C5C3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0199F1A-8103-4C2B-9002-E79315E23E11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7393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174CE4C7-E3EB-42B6-9571-831E024E646C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67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2C899E-B292-413D-A957-3925ECE2A1DE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17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89CD-9AC7-46E4-9835-5949BF1200FC}" type="datetime1">
              <a:rPr lang="en-IN" smtClean="0"/>
              <a:t>25-08-2026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7645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BB83-2646-4694-8089-A8BD7CA1CE2B}" type="datetime1">
              <a:rPr lang="en-IN" smtClean="0"/>
              <a:t>25-08-2026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3838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5939-BF8D-4E54-8E16-A9747B284042}" type="datetime1">
              <a:rPr lang="en-IN" smtClean="0"/>
              <a:t>25-08-2026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517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82CFC-60F5-4FD7-BAD4-6C61B5777185}" type="datetime1">
              <a:rPr lang="en-IN" smtClean="0"/>
              <a:t>25-08-2026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399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F0274B-AC69-4425-8A33-A78DDC4B15F9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94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3BE614-28EC-4B11-B1E3-5D9221BD17C1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53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DCB59480-7F39-4A57-8EDF-81F4910C9586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64CEA94-A4B9-4BF8-BCB6-6CC343D34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8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  <p:sldLayoutId id="2147483828" r:id="rId18"/>
    <p:sldLayoutId id="2147483829" r:id="rId19"/>
    <p:sldLayoutId id="2147483830" r:id="rId20"/>
    <p:sldLayoutId id="2147483831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</p:sldLayoutIdLst>
  <p:hf hdr="0" ftr="0" dt="0"/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E7E0F-5763-D13D-3567-54DD8210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792224"/>
            <a:ext cx="5989671" cy="668781"/>
          </a:xfrm>
        </p:spPr>
        <p:txBody>
          <a:bodyPr>
            <a:normAutofit/>
          </a:bodyPr>
          <a:lstStyle/>
          <a:p>
            <a:r>
              <a:rPr lang="en-US" sz="3200" dirty="0"/>
              <a:t>Bond Risk &amp; Key Rate Duration Analysis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52A3C-4AAA-69EE-E92C-F1D0139D9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8" y="3055366"/>
            <a:ext cx="4905613" cy="2421890"/>
          </a:xfrm>
        </p:spPr>
        <p:txBody>
          <a:bodyPr>
            <a:noAutofit/>
          </a:bodyPr>
          <a:lstStyle/>
          <a:p>
            <a:r>
              <a:rPr lang="en-US" sz="2000" dirty="0"/>
              <a:t>Internship Project Presentation</a:t>
            </a:r>
          </a:p>
          <a:p>
            <a:endParaRPr lang="en-US" sz="2000" dirty="0"/>
          </a:p>
          <a:p>
            <a:r>
              <a:rPr lang="en-US" sz="2000" dirty="0"/>
              <a:t>Presented by: Kanaparthi Gayathri </a:t>
            </a:r>
          </a:p>
          <a:p>
            <a:r>
              <a:rPr lang="en-US" sz="2000" dirty="0"/>
              <a:t>Organization: Zetheta</a:t>
            </a:r>
          </a:p>
          <a:p>
            <a:r>
              <a:rPr lang="en-US" sz="2000" dirty="0"/>
              <a:t>Mentor: Varalakshmi</a:t>
            </a:r>
          </a:p>
          <a:p>
            <a:r>
              <a:rPr lang="en-US" sz="2000" dirty="0"/>
              <a:t>Academic Year: 2025–2026</a:t>
            </a:r>
            <a:endParaRPr lang="en-IN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37AC1-0E69-7AD6-D365-495860E3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057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5085-55DC-BD58-FB85-FF4A1BCF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9A4EA-1828-7F7B-C79D-E78F8BC20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Analysis of bond interest-rate risk</a:t>
            </a:r>
          </a:p>
          <a:p>
            <a:pPr marL="0" indent="0">
              <a:buNone/>
            </a:pPr>
            <a:r>
              <a:rPr lang="en-US" dirty="0"/>
              <a:t>• Focus on Key Rate Duration (KRD)</a:t>
            </a:r>
          </a:p>
          <a:p>
            <a:pPr marL="0" indent="0">
              <a:buNone/>
            </a:pPr>
            <a:r>
              <a:rPr lang="en-US" dirty="0"/>
              <a:t>• Portfolio risk and DV01 analysis</a:t>
            </a:r>
          </a:p>
          <a:p>
            <a:pPr marL="0" indent="0">
              <a:buNone/>
            </a:pPr>
            <a:r>
              <a:rPr lang="en-US" dirty="0"/>
              <a:t>• Yield-curve scenario analysis</a:t>
            </a:r>
          </a:p>
          <a:p>
            <a:pPr marL="0" indent="0">
              <a:buNone/>
            </a:pPr>
            <a:r>
              <a:rPr lang="en-US" dirty="0"/>
              <a:t>• Machine learning-based risk analysis</a:t>
            </a:r>
          </a:p>
          <a:p>
            <a:pPr marL="0" indent="0">
              <a:buNone/>
            </a:pPr>
            <a:r>
              <a:rPr lang="en-US" dirty="0"/>
              <a:t>• Visualization of analytical results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32CB8-BF11-D8C5-8F86-5CB8DA1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51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1495-ACF4-3402-CA95-70FD6004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813816"/>
            <a:ext cx="10657476" cy="667512"/>
          </a:xfrm>
        </p:spPr>
        <p:txBody>
          <a:bodyPr>
            <a:normAutofit/>
          </a:bodyPr>
          <a:lstStyle/>
          <a:p>
            <a:r>
              <a:rPr lang="en-IN" sz="3200" dirty="0"/>
              <a:t>2.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5236-F34D-327B-6225-176245726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800" dirty="0" err="1"/>
              <a:t>Analyse</a:t>
            </a:r>
            <a:r>
              <a:rPr lang="en-US" sz="1800" dirty="0"/>
              <a:t> bond interest-rate sensitivity</a:t>
            </a:r>
          </a:p>
          <a:p>
            <a:pPr marL="0" indent="0">
              <a:buNone/>
            </a:pPr>
            <a:r>
              <a:rPr lang="en-US" sz="1800" dirty="0"/>
              <a:t>• Calculate and interpret duration and convexity</a:t>
            </a:r>
          </a:p>
          <a:p>
            <a:pPr marL="0" indent="0">
              <a:buNone/>
            </a:pPr>
            <a:r>
              <a:rPr lang="en-US" sz="1800" dirty="0"/>
              <a:t>• Measure Key Rate Duration across maturity buckets</a:t>
            </a:r>
          </a:p>
          <a:p>
            <a:pPr marL="0" indent="0">
              <a:buNone/>
            </a:pPr>
            <a:r>
              <a:rPr lang="en-US" sz="1800" dirty="0"/>
              <a:t>• Identify major sources of portfolio risk</a:t>
            </a:r>
          </a:p>
          <a:p>
            <a:pPr marL="0" indent="0">
              <a:buNone/>
            </a:pPr>
            <a:r>
              <a:rPr lang="en-US" sz="1800" dirty="0"/>
              <a:t>• Evaluate scenario-based P&amp;L impact</a:t>
            </a:r>
          </a:p>
          <a:p>
            <a:pPr marL="0" indent="0">
              <a:buNone/>
            </a:pPr>
            <a:r>
              <a:rPr lang="en-US" sz="1800" dirty="0"/>
              <a:t>• Apply machine learning for risk analysis</a:t>
            </a:r>
          </a:p>
          <a:p>
            <a:pPr marL="0" indent="0">
              <a:buNone/>
            </a:pPr>
            <a:r>
              <a:rPr lang="en-US" sz="1800" dirty="0"/>
              <a:t>• Generate decision-supporting visualizations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3F0DB-89F2-50CE-63FE-2776BF7C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229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5568-0943-A5B3-D54F-B42D4B1C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1832"/>
            <a:ext cx="10515600" cy="539496"/>
          </a:xfrm>
        </p:spPr>
        <p:txBody>
          <a:bodyPr>
            <a:normAutofit/>
          </a:bodyPr>
          <a:lstStyle/>
          <a:p>
            <a:r>
              <a:rPr lang="en-US" sz="3200" dirty="0"/>
              <a:t>3. Bond Mathematics &amp; Risk Measures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71897-F6FE-3E78-0892-7C113B854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Bond Price</a:t>
            </a:r>
          </a:p>
          <a:p>
            <a:pPr marL="0" indent="0">
              <a:buNone/>
            </a:pPr>
            <a:r>
              <a:rPr lang="en-US" sz="1800" dirty="0"/>
              <a:t>• Yield to Maturity</a:t>
            </a:r>
          </a:p>
          <a:p>
            <a:pPr marL="0" indent="0">
              <a:buNone/>
            </a:pPr>
            <a:r>
              <a:rPr lang="en-US" sz="1800" dirty="0"/>
              <a:t>• Macaulay Duration</a:t>
            </a:r>
          </a:p>
          <a:p>
            <a:pPr marL="0" indent="0">
              <a:buNone/>
            </a:pPr>
            <a:r>
              <a:rPr lang="en-US" sz="1800" dirty="0"/>
              <a:t>• Modified Duration</a:t>
            </a:r>
          </a:p>
          <a:p>
            <a:pPr marL="0" indent="0">
              <a:buNone/>
            </a:pPr>
            <a:r>
              <a:rPr lang="en-US" sz="1800" dirty="0"/>
              <a:t>• Convexity</a:t>
            </a:r>
          </a:p>
          <a:p>
            <a:pPr marL="0" indent="0">
              <a:buNone/>
            </a:pPr>
            <a:r>
              <a:rPr lang="en-US" sz="1800" dirty="0"/>
              <a:t>• DV01</a:t>
            </a:r>
          </a:p>
          <a:p>
            <a:pPr marL="0" indent="0">
              <a:buNone/>
            </a:pPr>
            <a:r>
              <a:rPr lang="en-US" sz="1800" dirty="0"/>
              <a:t>These measures provide the foundation for fixed-income</a:t>
            </a:r>
          </a:p>
          <a:p>
            <a:pPr marL="0" indent="0">
              <a:buNone/>
            </a:pPr>
            <a:r>
              <a:rPr lang="en-US" sz="1800" dirty="0"/>
              <a:t>interest-rate risk analysis.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BF19A-966D-6C88-DD15-C3B4002A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73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88E3-BA1A-AA1D-F10F-F56896C4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145124" cy="704088"/>
          </a:xfrm>
        </p:spPr>
        <p:txBody>
          <a:bodyPr>
            <a:normAutofit/>
          </a:bodyPr>
          <a:lstStyle/>
          <a:p>
            <a:r>
              <a:rPr lang="en-US" sz="3200" dirty="0"/>
              <a:t>4. Key Rate Duration Analysis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3D936-DD9D-7494-9678-E7A02A173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KRD measures interest-rate sensitivity at specific</a:t>
            </a:r>
          </a:p>
          <a:p>
            <a:pPr marL="0" indent="0">
              <a:buNone/>
            </a:pPr>
            <a:r>
              <a:rPr lang="en-IN" sz="1800" dirty="0"/>
              <a:t>maturity points of the yield curve.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Key maturity buckets:</a:t>
            </a:r>
          </a:p>
          <a:p>
            <a:pPr marL="0" indent="0">
              <a:buNone/>
            </a:pPr>
            <a:r>
              <a:rPr lang="en-IN" sz="1800" dirty="0"/>
              <a:t>3M | 6M | 1Y | 2Y | 3Y | 5Y | 7Y | 10Y | 20Y | 30Y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• Identifies concentration of interest-rate risk</a:t>
            </a:r>
          </a:p>
          <a:p>
            <a:pPr marL="0" indent="0">
              <a:buNone/>
            </a:pPr>
            <a:r>
              <a:rPr lang="en-IN" sz="1800" dirty="0"/>
              <a:t>• Captures non-parallel yield-curve movements</a:t>
            </a:r>
          </a:p>
          <a:p>
            <a:pPr marL="0" indent="0">
              <a:buNone/>
            </a:pPr>
            <a:r>
              <a:rPr lang="en-IN" sz="1800" dirty="0"/>
              <a:t>• Supports bucket-level risk interpretation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F6D75-F67F-86E2-7D54-58B4FD25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235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8E6A-DCBD-EC8D-6F01-15C9DB72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401156" cy="731520"/>
          </a:xfrm>
        </p:spPr>
        <p:txBody>
          <a:bodyPr>
            <a:normAutofit/>
          </a:bodyPr>
          <a:lstStyle/>
          <a:p>
            <a:r>
              <a:rPr lang="en-IN" sz="3200" dirty="0"/>
              <a:t>5. Portfolio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CA8B-67C3-74DE-FD07-153645C0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Portfolio Modified Duration</a:t>
            </a:r>
          </a:p>
          <a:p>
            <a:pPr marL="0" indent="0">
              <a:buNone/>
            </a:pPr>
            <a:r>
              <a:rPr lang="en-US" sz="1800" dirty="0"/>
              <a:t>• Portfolio Convexity</a:t>
            </a:r>
          </a:p>
          <a:p>
            <a:pPr marL="0" indent="0">
              <a:buNone/>
            </a:pPr>
            <a:r>
              <a:rPr lang="en-US" sz="1800" dirty="0"/>
              <a:t>• Total DV01</a:t>
            </a:r>
          </a:p>
          <a:p>
            <a:pPr marL="0" indent="0">
              <a:buNone/>
            </a:pPr>
            <a:r>
              <a:rPr lang="en-US" sz="1800" dirty="0"/>
              <a:t>• Risk contribution by maturity bucket</a:t>
            </a:r>
          </a:p>
          <a:p>
            <a:pPr marL="0" indent="0">
              <a:buNone/>
            </a:pPr>
            <a:r>
              <a:rPr lang="en-US" sz="1800" dirty="0"/>
              <a:t>• Risk concentration analysis</a:t>
            </a:r>
          </a:p>
          <a:p>
            <a:pPr marL="0" indent="0">
              <a:buNone/>
            </a:pPr>
            <a:r>
              <a:rPr lang="en-US" sz="1800" dirty="0"/>
              <a:t>• Portfolio sensitivity to yield movements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F59D3-5FA6-FEAC-C79F-F4414DCA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043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A00E-9EB2-7951-3D31-17E78DBD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364580" cy="667512"/>
          </a:xfrm>
        </p:spPr>
        <p:txBody>
          <a:bodyPr>
            <a:normAutofit/>
          </a:bodyPr>
          <a:lstStyle/>
          <a:p>
            <a:r>
              <a:rPr lang="en-IN" sz="3200" dirty="0"/>
              <a:t>6. Scenario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29AFC-BBD1-AA7B-5B3B-A0B194F35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Interest-rate shock scenarios</a:t>
            </a:r>
          </a:p>
          <a:p>
            <a:pPr marL="0" indent="0">
              <a:buNone/>
            </a:pPr>
            <a:r>
              <a:rPr lang="en-US" sz="1800" dirty="0"/>
              <a:t>• Key-rate bucket P&amp;L impact</a:t>
            </a:r>
          </a:p>
          <a:p>
            <a:pPr marL="0" indent="0">
              <a:buNone/>
            </a:pPr>
            <a:r>
              <a:rPr lang="en-US" sz="1800" dirty="0"/>
              <a:t>• Yield-curve sensitivity</a:t>
            </a:r>
          </a:p>
          <a:p>
            <a:pPr marL="0" indent="0">
              <a:buNone/>
            </a:pPr>
            <a:r>
              <a:rPr lang="en-US" sz="1800" dirty="0"/>
              <a:t>• Steepening scenario analysis</a:t>
            </a:r>
          </a:p>
          <a:p>
            <a:pPr marL="0" indent="0">
              <a:buNone/>
            </a:pPr>
            <a:r>
              <a:rPr lang="en-US" sz="1800" dirty="0"/>
              <a:t>• Identification of high-impact maturity buckets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A8FC2-E9C7-3627-BC62-59C98D267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25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8251-8CE0-5DBE-69BA-B11E45BD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437732" cy="685800"/>
          </a:xfrm>
        </p:spPr>
        <p:txBody>
          <a:bodyPr>
            <a:normAutofit/>
          </a:bodyPr>
          <a:lstStyle/>
          <a:p>
            <a:r>
              <a:rPr lang="en-IN" sz="3200" dirty="0"/>
              <a:t>7. Machine Learning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244-A6EC-971E-773E-F17CF3FFF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Predictive modelling applied to bond-risk data</a:t>
            </a:r>
          </a:p>
          <a:p>
            <a:pPr marL="0" indent="0">
              <a:buNone/>
            </a:pPr>
            <a:r>
              <a:rPr lang="en-US" sz="1800" dirty="0"/>
              <a:t>• Model evaluation</a:t>
            </a:r>
          </a:p>
          <a:p>
            <a:pPr marL="0" indent="0">
              <a:buNone/>
            </a:pPr>
            <a:r>
              <a:rPr lang="en-US" sz="1800" dirty="0"/>
              <a:t>• Feature importance analysis</a:t>
            </a:r>
          </a:p>
          <a:p>
            <a:pPr marL="0" indent="0">
              <a:buNone/>
            </a:pPr>
            <a:r>
              <a:rPr lang="en-US" sz="1800" dirty="0"/>
              <a:t>• Actual vs predicted risk analysis</a:t>
            </a:r>
          </a:p>
          <a:p>
            <a:pPr marL="0" indent="0">
              <a:buNone/>
            </a:pPr>
            <a:r>
              <a:rPr lang="en-US" sz="1800" dirty="0"/>
              <a:t>• ML used as a complementary risk-analysis approach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71325-577F-43E4-2C16-06B680E2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95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DFC8-3D8F-4509-711D-B19B342B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594360"/>
          </a:xfrm>
        </p:spPr>
        <p:txBody>
          <a:bodyPr>
            <a:normAutofit/>
          </a:bodyPr>
          <a:lstStyle/>
          <a:p>
            <a:r>
              <a:rPr lang="en-IN" sz="3200" dirty="0"/>
              <a:t>8. Results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698D-E6BE-E3A7-C70E-7DEAAD9A7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• KRD provides a detailed view of yield-curve exposure</a:t>
            </a:r>
          </a:p>
          <a:p>
            <a:pPr marL="0" indent="0">
              <a:buNone/>
            </a:pPr>
            <a:r>
              <a:rPr lang="en-US" sz="1800" dirty="0"/>
              <a:t>• Risk is distributed differently across maturity buckets</a:t>
            </a:r>
          </a:p>
          <a:p>
            <a:pPr marL="0" indent="0">
              <a:buNone/>
            </a:pPr>
            <a:r>
              <a:rPr lang="en-US" sz="1800" dirty="0"/>
              <a:t>• Scenario analysis highlights potential P&amp;L sensitivity</a:t>
            </a:r>
          </a:p>
          <a:p>
            <a:pPr marL="0" indent="0">
              <a:buNone/>
            </a:pPr>
            <a:r>
              <a:rPr lang="en-US" sz="1800" dirty="0"/>
              <a:t>• DV01 helps quantify one-basis-point interest-rate exposure</a:t>
            </a:r>
          </a:p>
          <a:p>
            <a:pPr marL="0" indent="0">
              <a:buNone/>
            </a:pPr>
            <a:r>
              <a:rPr lang="en-US" sz="1800" dirty="0"/>
              <a:t>• Feature importance identifies relevant predictive variables</a:t>
            </a:r>
          </a:p>
          <a:p>
            <a:pPr marL="0" indent="0">
              <a:buNone/>
            </a:pPr>
            <a:r>
              <a:rPr lang="en-US" sz="1800" dirty="0"/>
              <a:t>• Results support more focused bond-risk monitoring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FA85E-8337-A134-D25B-2C75ACEA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77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9355-BDAA-C3C3-89DC-A0DF71AB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428588" cy="731520"/>
          </a:xfrm>
        </p:spPr>
        <p:txBody>
          <a:bodyPr>
            <a:normAutofit/>
          </a:bodyPr>
          <a:lstStyle/>
          <a:p>
            <a:r>
              <a:rPr lang="en-IN" sz="3200" dirty="0"/>
              <a:t>9. 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E1F6A-E37B-3BB0-018C-409C7BFF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234440"/>
            <a:ext cx="10792680" cy="534924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/>
              <a:t>Conclusion:</a:t>
            </a:r>
          </a:p>
          <a:p>
            <a:pPr marL="0" indent="0">
              <a:buNone/>
            </a:pPr>
            <a:r>
              <a:rPr lang="en-IN" sz="7200" dirty="0"/>
              <a:t>• Bond risk was analysed using quantitative fixed-income measures</a:t>
            </a:r>
          </a:p>
          <a:p>
            <a:pPr marL="0" indent="0">
              <a:buNone/>
            </a:pPr>
            <a:r>
              <a:rPr lang="en-IN" sz="7200" dirty="0"/>
              <a:t>• KRD helped identify maturity-specific interest-rate exposure</a:t>
            </a:r>
          </a:p>
          <a:p>
            <a:pPr marL="0" indent="0">
              <a:buNone/>
            </a:pPr>
            <a:r>
              <a:rPr lang="en-IN" sz="7200" dirty="0"/>
              <a:t>• Scenario analysis provided portfolio impact insights</a:t>
            </a:r>
          </a:p>
          <a:p>
            <a:pPr marL="0" indent="0">
              <a:buNone/>
            </a:pPr>
            <a:r>
              <a:rPr lang="en-IN" sz="7200" dirty="0"/>
              <a:t>• Machine learning complemented traditional risk analysis</a:t>
            </a:r>
          </a:p>
          <a:p>
            <a:pPr marL="0" indent="0">
              <a:buNone/>
            </a:pPr>
            <a:endParaRPr lang="en-IN" sz="7200" dirty="0"/>
          </a:p>
          <a:p>
            <a:pPr marL="0" indent="0">
              <a:buNone/>
            </a:pPr>
            <a:r>
              <a:rPr lang="en-IN" sz="7200" dirty="0"/>
              <a:t>Future Scope:</a:t>
            </a:r>
          </a:p>
          <a:p>
            <a:pPr marL="0" indent="0">
              <a:buNone/>
            </a:pPr>
            <a:r>
              <a:rPr lang="en-IN" sz="7200" dirty="0"/>
              <a:t>• Real-time market data integration</a:t>
            </a:r>
          </a:p>
          <a:p>
            <a:pPr marL="0" indent="0">
              <a:buNone/>
            </a:pPr>
            <a:r>
              <a:rPr lang="en-IN" sz="7200" dirty="0"/>
              <a:t>• Advanced ML models</a:t>
            </a:r>
          </a:p>
          <a:p>
            <a:pPr marL="0" indent="0">
              <a:buNone/>
            </a:pPr>
            <a:r>
              <a:rPr lang="en-IN" sz="7200" dirty="0"/>
              <a:t>• Automated Power BI dashboards</a:t>
            </a:r>
          </a:p>
          <a:p>
            <a:pPr marL="0" indent="0">
              <a:buNone/>
            </a:pPr>
            <a:r>
              <a:rPr lang="en-IN" sz="7200" dirty="0"/>
              <a:t>• Expanded stress-testing scenarios</a:t>
            </a:r>
          </a:p>
          <a:p>
            <a:pPr marL="0" indent="0">
              <a:buNone/>
            </a:pPr>
            <a:r>
              <a:rPr lang="en-IN" sz="7200" dirty="0"/>
              <a:t>• Hedging and risk-optimization analysis</a:t>
            </a:r>
          </a:p>
          <a:p>
            <a:pPr marL="0" indent="0">
              <a:buNone/>
            </a:pPr>
            <a:r>
              <a:rPr lang="en-IN" sz="4000" dirty="0"/>
              <a:t>Thank You</a:t>
            </a:r>
          </a:p>
          <a:p>
            <a:pPr marL="0" indent="0">
              <a:buNone/>
            </a:pPr>
            <a:r>
              <a:rPr lang="en-IN" sz="4000" dirty="0"/>
              <a:t>Questions?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AFC8F-5FAA-963B-B954-D9296321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CEA94-A4B9-4BF8-BCB6-6CC343D3496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217062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33</TotalTime>
  <Words>430</Words>
  <Application>Microsoft Office PowerPoint</Application>
  <PresentationFormat>Widescreen</PresentationFormat>
  <Paragraphs>93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JasmineUPC</vt:lpstr>
      <vt:lpstr>Raleway</vt:lpstr>
      <vt:lpstr>School Days</vt:lpstr>
      <vt:lpstr>Bond Risk &amp; Key Rate Duration Analysis</vt:lpstr>
      <vt:lpstr>1. Project Overview</vt:lpstr>
      <vt:lpstr>2. Project Objectives</vt:lpstr>
      <vt:lpstr>3. Bond Mathematics &amp; Risk Measures</vt:lpstr>
      <vt:lpstr>4. Key Rate Duration Analysis</vt:lpstr>
      <vt:lpstr>5. Portfolio Risk Analysis</vt:lpstr>
      <vt:lpstr>6. Scenario Analysis</vt:lpstr>
      <vt:lpstr>7. Machine Learning Analysis</vt:lpstr>
      <vt:lpstr>8. Results &amp; Key Findings</vt:lpstr>
      <vt:lpstr>9. 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Swecha vrindha</dc:creator>
  <cp:lastModifiedBy>Swecha vrindha</cp:lastModifiedBy>
  <cp:revision>1</cp:revision>
  <dcterms:created xsi:type="dcterms:W3CDTF">2026-08-25T13:59:03Z</dcterms:created>
  <dcterms:modified xsi:type="dcterms:W3CDTF">2026-08-25T14:32:39Z</dcterms:modified>
</cp:coreProperties>
</file>